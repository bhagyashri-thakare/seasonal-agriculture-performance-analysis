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73" d="100"/>
          <a:sy n="73" d="100"/>
        </p:scale>
        <p:origin x="691" y="75"/>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9/7/2026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9/7/2026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9/7/2026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9/7/2026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9/7/2026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389762" y="3651585"/>
            <a:ext cx="5448638" cy="861497"/>
          </a:xfrm>
        </p:spPr>
        <p:txBody>
          <a:bodyPr vert="horz" lIns="91440" tIns="45720" rIns="91440" bIns="45720" rtlCol="0" anchor="t">
            <a:normAutofit fontScale="92500"/>
          </a:bodyPr>
          <a:lstStyle/>
          <a:p>
            <a:pPr algn="r"/>
            <a:r>
              <a:rPr lang="en-US" sz="1800" b="0" dirty="0">
                <a:solidFill>
                  <a:schemeClr val="tx1"/>
                </a:solidFill>
                <a:latin typeface="Times New Roman" panose="02020603050405020304" pitchFamily="18" charset="0"/>
                <a:cs typeface="Times New Roman" panose="02020603050405020304" pitchFamily="18" charset="0"/>
              </a:rPr>
              <a:t>[ Student Name: Thakare Bhagyashri Vasudev</a:t>
            </a:r>
          </a:p>
          <a:p>
            <a:pPr algn="r"/>
            <a:r>
              <a:rPr lang="en-US" sz="1800" b="0" dirty="0">
                <a:solidFill>
                  <a:prstClr val="black"/>
                </a:solidFill>
                <a:latin typeface="Times New Roman" panose="02020603050405020304" pitchFamily="18" charset="0"/>
                <a:cs typeface="Times New Roman" panose="02020603050405020304" pitchFamily="18" charset="0"/>
              </a:rPr>
              <a:t>College Name: Government Engineering College ,Daman</a:t>
            </a:r>
            <a:r>
              <a:rPr lang="en-US" sz="1800" b="0" dirty="0">
                <a:solidFill>
                  <a:schemeClr val="tx1"/>
                </a:solidFill>
                <a:latin typeface="Times New Roman" panose="02020603050405020304" pitchFamily="18" charset="0"/>
                <a:cs typeface="Times New Roman" panose="02020603050405020304" pitchFamily="18" charset="0"/>
              </a:rPr>
              <a:t> ]    </a:t>
            </a:r>
            <a:endParaRPr lang="en-IN" sz="1800" b="0" dirty="0">
              <a:solidFill>
                <a:schemeClr val="tx1"/>
              </a:solidFill>
              <a:latin typeface="Times New Roman" panose="02020603050405020304" pitchFamily="18" charset="0"/>
              <a:cs typeface="Times New Roman" panose="02020603050405020304" pitchFamily="18" charset="0"/>
            </a:endParaRPr>
          </a:p>
          <a:p>
            <a:pPr algn="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4998720" cy="743448"/>
          </a:xfrm>
        </p:spPr>
        <p:txBody>
          <a:bodyPr>
            <a:normAutofit/>
          </a:bodyPr>
          <a:lstStyle/>
          <a:p>
            <a:r>
              <a:rPr lang="en-GB" sz="3200" dirty="0"/>
              <a:t>Project Title -</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389762" y="4806541"/>
            <a:ext cx="5843081" cy="369332"/>
          </a:xfrm>
          <a:prstGeom prst="rect">
            <a:avLst/>
          </a:prstGeom>
          <a:noFill/>
        </p:spPr>
        <p:txBody>
          <a:bodyPr wrap="square" rtlCol="0">
            <a:spAutoFit/>
          </a:bodyPr>
          <a:lstStyle/>
          <a:p>
            <a:r>
              <a:rPr lang="en-US" b="1" dirty="0"/>
              <a:t>AICTE STU ID : (STU6a646979ebc551784965497)</a:t>
            </a:r>
          </a:p>
        </p:txBody>
      </p:sp>
      <p:sp>
        <p:nvSpPr>
          <p:cNvPr id="5" name="TextBox 4">
            <a:extLst>
              <a:ext uri="{FF2B5EF4-FFF2-40B4-BE49-F238E27FC236}">
                <a16:creationId xmlns:a16="http://schemas.microsoft.com/office/drawing/2014/main" id="{488A88F3-09E6-385D-8618-5ADA6EF5B1DD}"/>
              </a:ext>
            </a:extLst>
          </p:cNvPr>
          <p:cNvSpPr txBox="1"/>
          <p:nvPr/>
        </p:nvSpPr>
        <p:spPr>
          <a:xfrm>
            <a:off x="3450618" y="2958016"/>
            <a:ext cx="5564451"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Seasonal Agriculture Performance Analysis </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latin typeface="Times New Roman" panose="02020603050405020304" pitchFamily="18" charset="0"/>
                <a:cs typeface="Times New Roman" panose="02020603050405020304" pitchFamily="18" charset="0"/>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t>
            </a:r>
            <a:r>
              <a:rPr lang="en-IN" sz="2800" dirty="0" err="1">
                <a:latin typeface="Times New Roman" panose="02020603050405020304" pitchFamily="18" charset="0"/>
                <a:cs typeface="Times New Roman" panose="02020603050405020304" pitchFamily="18" charset="0"/>
              </a:rPr>
              <a:t>analyze</a:t>
            </a:r>
            <a:r>
              <a:rPr lang="en-IN" sz="2800" dirty="0">
                <a:latin typeface="Times New Roman" panose="02020603050405020304" pitchFamily="18" charset="0"/>
                <a:cs typeface="Times New Roman" panose="02020603050405020304" pitchFamily="18" charset="0"/>
              </a:rPr>
              <a:t> the given agricultural dataset and investigate seasonal differences in agricultural performance by identifying meaningful patterns, trends, relationships and variations within the available data.</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84DE6929-AA03-C0B7-65A3-A48CA94095CB}"/>
              </a:ext>
            </a:extLst>
          </p:cNvPr>
          <p:cNvSpPr txBox="1"/>
          <p:nvPr/>
        </p:nvSpPr>
        <p:spPr>
          <a:xfrm>
            <a:off x="467359" y="1697669"/>
            <a:ext cx="9775867" cy="4401205"/>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The project Seasonal Agriculture Performance Analysis is a data analytics assignment focused on investigating how farming performance changes across different seasons, geographical areas, and environmental conditions.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Overview: The project uses a detailed dataset covering farming practices, weather conditions, crop yields, resource usage, and economic outcomes across seasons. </a:t>
            </a:r>
          </a:p>
          <a:p>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Core Problem: Raw agricultural data does not clearly reveal how farming outputs change from one season to another. The goal is to clean, analyze, and explore the dataset to uncover these hidden patterns and seasonal variations.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Key Tasks: Students need to clean the data, apply statistical and visualization techniques, compare performance metrics (such as crop output, resource usage, and revenue) across different seasons, and document their findings in a Jupyter Notebook.</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679258"/>
            <a:ext cx="7904481" cy="3990023"/>
          </a:xfrm>
        </p:spPr>
        <p:txBody>
          <a:bodyPr>
            <a:noAutofit/>
          </a:bodyPr>
          <a:lstStyle/>
          <a:p>
            <a:pPr algn="just">
              <a:lnSpc>
                <a:spcPct val="150000"/>
              </a:lnSpc>
            </a:pPr>
            <a:r>
              <a:rPr lang="en-US" sz="1600" b="1" dirty="0">
                <a:latin typeface="Times New Roman" panose="02020603050405020304" pitchFamily="18" charset="0"/>
                <a:cs typeface="Times New Roman" panose="02020603050405020304" pitchFamily="18" charset="0"/>
              </a:rPr>
              <a:t>Farmers &amp; Local Agricultural Workers: </a:t>
            </a:r>
            <a:r>
              <a:rPr lang="en-US" sz="1600" dirty="0">
                <a:latin typeface="Times New Roman" panose="02020603050405020304" pitchFamily="18" charset="0"/>
                <a:cs typeface="Times New Roman" panose="02020603050405020304" pitchFamily="18" charset="0"/>
              </a:rPr>
              <a:t>Helps them understand seasonal trends so they can optimize planting schedules, manage resource consumption (like fertilizers and water), and select the best crops for each season.  </a:t>
            </a:r>
          </a:p>
          <a:p>
            <a:pPr algn="just">
              <a:lnSpc>
                <a:spcPct val="150000"/>
              </a:lnSpc>
            </a:pPr>
            <a:r>
              <a:rPr lang="en-US" sz="1600" b="1" dirty="0">
                <a:latin typeface="Times New Roman" panose="02020603050405020304" pitchFamily="18" charset="0"/>
                <a:cs typeface="Times New Roman" panose="02020603050405020304" pitchFamily="18" charset="0"/>
              </a:rPr>
              <a:t>Agricultural Planners &amp; Government Policymakers: </a:t>
            </a:r>
            <a:r>
              <a:rPr lang="en-US" sz="1600" dirty="0">
                <a:latin typeface="Times New Roman" panose="02020603050405020304" pitchFamily="18" charset="0"/>
                <a:cs typeface="Times New Roman" panose="02020603050405020304" pitchFamily="18" charset="0"/>
              </a:rPr>
              <a:t>Assists decision-makers in formulating evidence-based agricultural policies, allocating emergency resources, and designing seasonal support programs for regional farming communities.  </a:t>
            </a:r>
          </a:p>
          <a:p>
            <a:pPr algn="just">
              <a:lnSpc>
                <a:spcPct val="150000"/>
              </a:lnSpc>
            </a:pPr>
            <a:r>
              <a:rPr lang="en-US" sz="1600" b="1" dirty="0">
                <a:latin typeface="Times New Roman" panose="02020603050405020304" pitchFamily="18" charset="0"/>
                <a:cs typeface="Times New Roman" panose="02020603050405020304" pitchFamily="18" charset="0"/>
              </a:rPr>
              <a:t>Agribusinesses &amp; Supply Chain Managers: </a:t>
            </a:r>
            <a:r>
              <a:rPr lang="en-US" sz="1600" dirty="0">
                <a:latin typeface="Times New Roman" panose="02020603050405020304" pitchFamily="18" charset="0"/>
                <a:cs typeface="Times New Roman" panose="02020603050405020304" pitchFamily="18" charset="0"/>
              </a:rPr>
              <a:t>Provides valuable market and yield predictability, allowing seed suppliers, fertilizer manufacturers, and crop distributors to align their inventory with seasonal demand.</a:t>
            </a:r>
          </a:p>
          <a:p>
            <a:pPr algn="just">
              <a:lnSpc>
                <a:spcPct val="150000"/>
              </a:lnSpc>
            </a:pPr>
            <a:r>
              <a:rPr lang="en-US" sz="1600" b="1" dirty="0">
                <a:latin typeface="Times New Roman" panose="02020603050405020304" pitchFamily="18" charset="0"/>
                <a:cs typeface="Times New Roman" panose="02020603050405020304" pitchFamily="18" charset="0"/>
              </a:rPr>
              <a:t>Agricultural Researchers &amp; Data Analysts</a:t>
            </a:r>
            <a:r>
              <a:rPr lang="en-US" sz="1600" dirty="0">
                <a:latin typeface="Times New Roman" panose="02020603050405020304" pitchFamily="18" charset="0"/>
                <a:cs typeface="Times New Roman" panose="02020603050405020304" pitchFamily="18" charset="0"/>
              </a:rPr>
              <a:t>: Offers structured empirical findings to support broader climate, soil, and yield studies aimed at improving sustainable farming practices</a:t>
            </a:r>
            <a:r>
              <a:rPr lang="en-US" sz="1600" dirty="0"/>
              <a:t>.</a:t>
            </a:r>
            <a:endParaRPr lang="en-IN" sz="1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846306" y="1315059"/>
            <a:ext cx="9677510" cy="5243448"/>
          </a:xfrm>
        </p:spPr>
        <p:txBody>
          <a:bodyPr>
            <a:normAutofit/>
          </a:bodyPr>
          <a:lstStyle/>
          <a:p>
            <a:pPr lvl="1">
              <a:lnSpc>
                <a:spcPct val="150000"/>
              </a:lnSpc>
            </a:pPr>
            <a:r>
              <a:rPr lang="en-US" sz="1800" u="sng" dirty="0">
                <a:latin typeface="Times New Roman" panose="02020603050405020304" pitchFamily="18" charset="0"/>
                <a:cs typeface="Times New Roman" panose="02020603050405020304" pitchFamily="18" charset="0"/>
              </a:rPr>
              <a:t>Jupyter Notebook:</a:t>
            </a:r>
            <a:r>
              <a:rPr lang="en-US" sz="1800" dirty="0">
                <a:latin typeface="Times New Roman" panose="02020603050405020304" pitchFamily="18" charset="0"/>
                <a:cs typeface="Times New Roman" panose="02020603050405020304" pitchFamily="18" charset="0"/>
              </a:rPr>
              <a:t> The primary software environment used to write code, analyze data, run calculations, and document the entire workflow.  </a:t>
            </a:r>
          </a:p>
          <a:p>
            <a:pPr lvl="1">
              <a:lnSpc>
                <a:spcPct val="150000"/>
              </a:lnSpc>
            </a:pPr>
            <a:r>
              <a:rPr lang="en-US" sz="1800" u="sng" dirty="0">
                <a:latin typeface="Times New Roman" panose="02020603050405020304" pitchFamily="18" charset="0"/>
                <a:cs typeface="Times New Roman" panose="02020603050405020304" pitchFamily="18" charset="0"/>
              </a:rPr>
              <a:t>Python:</a:t>
            </a:r>
            <a:r>
              <a:rPr lang="en-US" sz="1800" dirty="0">
                <a:latin typeface="Times New Roman" panose="02020603050405020304" pitchFamily="18" charset="0"/>
                <a:cs typeface="Times New Roman" panose="02020603050405020304" pitchFamily="18" charset="0"/>
              </a:rPr>
              <a:t> The main programming language used for processing and analyzing the dataset.  </a:t>
            </a:r>
          </a:p>
          <a:p>
            <a:pPr marL="457200" lvl="1" indent="0">
              <a:lnSpc>
                <a:spcPct val="150000"/>
              </a:lnSpc>
              <a:buNone/>
            </a:pPr>
            <a:r>
              <a:rPr lang="en-US" sz="1800" b="1" dirty="0">
                <a:latin typeface="Times New Roman" panose="02020603050405020304" pitchFamily="18" charset="0"/>
                <a:cs typeface="Times New Roman" panose="02020603050405020304" pitchFamily="18" charset="0"/>
              </a:rPr>
              <a:t>  Key Software Libraries</a:t>
            </a:r>
          </a:p>
          <a:p>
            <a:pPr lvl="1">
              <a:lnSpc>
                <a:spcPct val="150000"/>
              </a:lnSpc>
            </a:pPr>
            <a:r>
              <a:rPr lang="en-US" sz="1800" u="sng" dirty="0">
                <a:latin typeface="Times New Roman" panose="02020603050405020304" pitchFamily="18" charset="0"/>
                <a:cs typeface="Times New Roman" panose="02020603050405020304" pitchFamily="18" charset="0"/>
              </a:rPr>
              <a:t>Data Processing &amp; Cleaning</a:t>
            </a:r>
            <a:r>
              <a:rPr lang="en-US" sz="1800" dirty="0">
                <a:latin typeface="Times New Roman" panose="02020603050405020304" pitchFamily="18" charset="0"/>
                <a:cs typeface="Times New Roman" panose="02020603050405020304" pitchFamily="18" charset="0"/>
              </a:rPr>
              <a:t>: Libraries like Pandas and NumPy are used to clean, inspect, filter, and structure the agricultural data.  </a:t>
            </a:r>
          </a:p>
          <a:p>
            <a:pPr lvl="1">
              <a:lnSpc>
                <a:spcPct val="150000"/>
              </a:lnSpc>
            </a:pPr>
            <a:r>
              <a:rPr lang="en-US" sz="1800" u="sng" dirty="0">
                <a:latin typeface="Times New Roman" panose="02020603050405020304" pitchFamily="18" charset="0"/>
                <a:cs typeface="Times New Roman" panose="02020603050405020304" pitchFamily="18" charset="0"/>
              </a:rPr>
              <a:t>Data Visualization:</a:t>
            </a:r>
            <a:r>
              <a:rPr lang="en-US" sz="1800" dirty="0">
                <a:latin typeface="Times New Roman" panose="02020603050405020304" pitchFamily="18" charset="0"/>
                <a:cs typeface="Times New Roman" panose="02020603050405020304" pitchFamily="18" charset="0"/>
              </a:rPr>
              <a:t> Tools like Matplotlib and Seaborn are used to create graphs, charts, and plots to easily spot seasonal trends and patterns.  </a:t>
            </a:r>
          </a:p>
          <a:p>
            <a:pPr lvl="1">
              <a:lnSpc>
                <a:spcPct val="150000"/>
              </a:lnSpc>
            </a:pPr>
            <a:r>
              <a:rPr lang="en-US" sz="1800" u="sng" dirty="0">
                <a:latin typeface="Times New Roman" panose="02020603050405020304" pitchFamily="18" charset="0"/>
                <a:cs typeface="Times New Roman" panose="02020603050405020304" pitchFamily="18" charset="0"/>
              </a:rPr>
              <a:t>Statistical Analysis: </a:t>
            </a:r>
            <a:r>
              <a:rPr lang="en-US" sz="1800" dirty="0">
                <a:latin typeface="Times New Roman" panose="02020603050405020304" pitchFamily="18" charset="0"/>
                <a:cs typeface="Times New Roman" panose="02020603050405020304" pitchFamily="18" charset="0"/>
              </a:rPr>
              <a:t>Math and statistics libraries (such as SciPy or </a:t>
            </a:r>
            <a:r>
              <a:rPr lang="en-US" sz="1800" dirty="0" err="1">
                <a:latin typeface="Times New Roman" panose="02020603050405020304" pitchFamily="18" charset="0"/>
                <a:cs typeface="Times New Roman" panose="02020603050405020304" pitchFamily="18" charset="0"/>
              </a:rPr>
              <a:t>Statsmodels</a:t>
            </a:r>
            <a:r>
              <a:rPr lang="en-US" sz="1800" dirty="0">
                <a:latin typeface="Times New Roman" panose="02020603050405020304" pitchFamily="18" charset="0"/>
                <a:cs typeface="Times New Roman" panose="02020603050405020304" pitchFamily="18" charset="0"/>
              </a:rPr>
              <a:t>) are used to run comparisons, calculate averages, and test relationships across different seasons.</a:t>
            </a:r>
            <a:endParaRPr lang="en-IN" sz="1800" dirty="0">
              <a:latin typeface="Times New Roman" panose="02020603050405020304" pitchFamily="18" charset="0"/>
              <a:cs typeface="Times New Roman" panose="02020603050405020304" pitchFamily="18" charset="0"/>
            </a:endParaRP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A4521A0C-1D8A-499D-DAB7-073201928CD2}"/>
              </a:ext>
            </a:extLst>
          </p:cNvPr>
          <p:cNvPicPr>
            <a:picLocks noChangeAspect="1"/>
          </p:cNvPicPr>
          <p:nvPr/>
        </p:nvPicPr>
        <p:blipFill>
          <a:blip r:embed="rId3"/>
          <a:stretch>
            <a:fillRect/>
          </a:stretch>
        </p:blipFill>
        <p:spPr>
          <a:xfrm>
            <a:off x="45745" y="1106896"/>
            <a:ext cx="5546674" cy="3418523"/>
          </a:xfrm>
          <a:prstGeom prst="rect">
            <a:avLst/>
          </a:prstGeom>
        </p:spPr>
      </p:pic>
      <p:pic>
        <p:nvPicPr>
          <p:cNvPr id="12" name="Picture 11">
            <a:extLst>
              <a:ext uri="{FF2B5EF4-FFF2-40B4-BE49-F238E27FC236}">
                <a16:creationId xmlns:a16="http://schemas.microsoft.com/office/drawing/2014/main" id="{62336664-138F-ADD9-D7A6-A64159D5A595}"/>
              </a:ext>
            </a:extLst>
          </p:cNvPr>
          <p:cNvPicPr>
            <a:picLocks noChangeAspect="1"/>
          </p:cNvPicPr>
          <p:nvPr/>
        </p:nvPicPr>
        <p:blipFill>
          <a:blip r:embed="rId4"/>
          <a:stretch>
            <a:fillRect/>
          </a:stretch>
        </p:blipFill>
        <p:spPr>
          <a:xfrm>
            <a:off x="5867656" y="918336"/>
            <a:ext cx="5672211" cy="3795641"/>
          </a:xfrm>
          <a:prstGeom prst="rect">
            <a:avLst/>
          </a:prstGeom>
        </p:spPr>
      </p:pic>
      <p:sp>
        <p:nvSpPr>
          <p:cNvPr id="13" name="TextBox 12">
            <a:extLst>
              <a:ext uri="{FF2B5EF4-FFF2-40B4-BE49-F238E27FC236}">
                <a16:creationId xmlns:a16="http://schemas.microsoft.com/office/drawing/2014/main" id="{574556B9-1D27-77A2-D002-1AEA7744D548}"/>
              </a:ext>
            </a:extLst>
          </p:cNvPr>
          <p:cNvSpPr txBox="1"/>
          <p:nvPr/>
        </p:nvSpPr>
        <p:spPr>
          <a:xfrm>
            <a:off x="156559" y="4566966"/>
            <a:ext cx="11721829" cy="286232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Characteristics that change between seasons</a:t>
            </a:r>
          </a:p>
          <a:p>
            <a:pPr lvl="0"/>
            <a:r>
              <a:rPr lang="en-IN" b="1" dirty="0">
                <a:latin typeface="Times New Roman" panose="02020603050405020304" pitchFamily="18" charset="0"/>
                <a:cs typeface="Times New Roman" panose="02020603050405020304" pitchFamily="18" charset="0"/>
              </a:rPr>
              <a:t>Rainfall (mm)</a:t>
            </a:r>
            <a:r>
              <a:rPr lang="en-IN" dirty="0">
                <a:latin typeface="Times New Roman" panose="02020603050405020304" pitchFamily="18" charset="0"/>
                <a:cs typeface="Times New Roman" panose="02020603050405020304" pitchFamily="18" charset="0"/>
              </a:rPr>
              <a:t> – Different monsoon cycles (Kharif, Rabi, Zaid) bring varying rainfall levels.</a:t>
            </a:r>
          </a:p>
          <a:p>
            <a:pPr lvl="0"/>
            <a:r>
              <a:rPr lang="en-IN" b="1" dirty="0">
                <a:latin typeface="Times New Roman" panose="02020603050405020304" pitchFamily="18" charset="0"/>
                <a:cs typeface="Times New Roman" panose="02020603050405020304" pitchFamily="18" charset="0"/>
              </a:rPr>
              <a:t>Average Temperature (°C)</a:t>
            </a:r>
            <a:r>
              <a:rPr lang="en-IN" dirty="0">
                <a:latin typeface="Times New Roman" panose="02020603050405020304" pitchFamily="18" charset="0"/>
                <a:cs typeface="Times New Roman" panose="02020603050405020304" pitchFamily="18" charset="0"/>
              </a:rPr>
              <a:t> – Seasonal temperature shifts affect crop growth.</a:t>
            </a:r>
          </a:p>
          <a:p>
            <a:pPr lvl="0"/>
            <a:r>
              <a:rPr lang="en-IN" b="1" dirty="0">
                <a:latin typeface="Times New Roman" panose="02020603050405020304" pitchFamily="18" charset="0"/>
                <a:cs typeface="Times New Roman" panose="02020603050405020304" pitchFamily="18" charset="0"/>
              </a:rPr>
              <a:t>Humidity (%)</a:t>
            </a:r>
            <a:r>
              <a:rPr lang="en-IN" dirty="0">
                <a:latin typeface="Times New Roman" panose="02020603050405020304" pitchFamily="18" charset="0"/>
                <a:cs typeface="Times New Roman" panose="02020603050405020304" pitchFamily="18" charset="0"/>
              </a:rPr>
              <a:t> – Influences disease/pest risks and crop health.</a:t>
            </a:r>
          </a:p>
          <a:p>
            <a:pPr lvl="0"/>
            <a:r>
              <a:rPr lang="en-IN" b="1" dirty="0">
                <a:latin typeface="Times New Roman" panose="02020603050405020304" pitchFamily="18" charset="0"/>
                <a:cs typeface="Times New Roman" panose="02020603050405020304" pitchFamily="18" charset="0"/>
              </a:rPr>
              <a:t>Sunlight Hours/Day</a:t>
            </a:r>
            <a:r>
              <a:rPr lang="en-IN" dirty="0">
                <a:latin typeface="Times New Roman" panose="02020603050405020304" pitchFamily="18" charset="0"/>
                <a:cs typeface="Times New Roman" panose="02020603050405020304" pitchFamily="18" charset="0"/>
              </a:rPr>
              <a:t> – Varies with season length and impacts photosynthesis.</a:t>
            </a:r>
          </a:p>
          <a:p>
            <a:pPr lvl="0"/>
            <a:r>
              <a:rPr lang="en-IN" b="1" dirty="0">
                <a:latin typeface="Times New Roman" panose="02020603050405020304" pitchFamily="18" charset="0"/>
                <a:cs typeface="Times New Roman" panose="02020603050405020304" pitchFamily="18" charset="0"/>
              </a:rPr>
              <a:t>Yield &amp; Production (Tonnes/Ha, Tonnes)</a:t>
            </a:r>
            <a:r>
              <a:rPr lang="en-IN" dirty="0">
                <a:latin typeface="Times New Roman" panose="02020603050405020304" pitchFamily="18" charset="0"/>
                <a:cs typeface="Times New Roman" panose="02020603050405020304" pitchFamily="18" charset="0"/>
              </a:rPr>
              <a:t> – Crop output fluctuates depending on seasonal conditions.</a:t>
            </a:r>
          </a:p>
          <a:p>
            <a:pPr lvl="0"/>
            <a:r>
              <a:rPr lang="en-IN" b="1" dirty="0">
                <a:latin typeface="Times New Roman" panose="02020603050405020304" pitchFamily="18" charset="0"/>
                <a:cs typeface="Times New Roman" panose="02020603050405020304" pitchFamily="18" charset="0"/>
              </a:rPr>
              <a:t>Water Usage &amp; Efficiency</a:t>
            </a:r>
            <a:r>
              <a:rPr lang="en-IN" dirty="0">
                <a:latin typeface="Times New Roman" panose="02020603050405020304" pitchFamily="18" charset="0"/>
                <a:cs typeface="Times New Roman" panose="02020603050405020304" pitchFamily="18" charset="0"/>
              </a:rPr>
              <a:t> – Irrigation needs differ across seasons.</a:t>
            </a:r>
          </a:p>
          <a:p>
            <a:pPr lvl="0"/>
            <a:r>
              <a:rPr lang="en-IN" b="1" dirty="0">
                <a:latin typeface="Times New Roman" panose="02020603050405020304" pitchFamily="18" charset="0"/>
                <a:cs typeface="Times New Roman" panose="02020603050405020304" pitchFamily="18" charset="0"/>
              </a:rPr>
              <a:t>Disease/Pest Risk (%)</a:t>
            </a:r>
            <a:r>
              <a:rPr lang="en-IN" dirty="0">
                <a:latin typeface="Times New Roman" panose="02020603050405020304" pitchFamily="18" charset="0"/>
                <a:cs typeface="Times New Roman" panose="02020603050405020304" pitchFamily="18" charset="0"/>
              </a:rPr>
              <a:t> – Higher in humid/rainy seasons.</a:t>
            </a:r>
          </a:p>
          <a:p>
            <a:pPr lvl="0"/>
            <a:endParaRPr lang="en-IN" dirty="0"/>
          </a:p>
          <a:p>
            <a:endParaRPr lang="en-IN" dirty="0"/>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DC5F106E-B965-C637-388F-E6F71CCDAE4A}"/>
              </a:ext>
            </a:extLst>
          </p:cNvPr>
          <p:cNvPicPr>
            <a:picLocks noChangeAspect="1"/>
          </p:cNvPicPr>
          <p:nvPr/>
        </p:nvPicPr>
        <p:blipFill>
          <a:blip r:embed="rId3"/>
          <a:stretch>
            <a:fillRect/>
          </a:stretch>
        </p:blipFill>
        <p:spPr>
          <a:xfrm>
            <a:off x="330076" y="1275371"/>
            <a:ext cx="4543244" cy="3753829"/>
          </a:xfrm>
          <a:prstGeom prst="rect">
            <a:avLst/>
          </a:prstGeom>
        </p:spPr>
      </p:pic>
      <p:pic>
        <p:nvPicPr>
          <p:cNvPr id="12" name="Picture 11">
            <a:extLst>
              <a:ext uri="{FF2B5EF4-FFF2-40B4-BE49-F238E27FC236}">
                <a16:creationId xmlns:a16="http://schemas.microsoft.com/office/drawing/2014/main" id="{FE99E2B5-317B-F112-52FF-9F8EB0C3B861}"/>
              </a:ext>
            </a:extLst>
          </p:cNvPr>
          <p:cNvPicPr>
            <a:picLocks noChangeAspect="1"/>
          </p:cNvPicPr>
          <p:nvPr/>
        </p:nvPicPr>
        <p:blipFill>
          <a:blip r:embed="rId4"/>
          <a:stretch>
            <a:fillRect/>
          </a:stretch>
        </p:blipFill>
        <p:spPr>
          <a:xfrm>
            <a:off x="5068110" y="1201585"/>
            <a:ext cx="5564221" cy="3827615"/>
          </a:xfrm>
          <a:prstGeom prst="rect">
            <a:avLst/>
          </a:prstGeom>
        </p:spPr>
      </p:pic>
      <p:sp>
        <p:nvSpPr>
          <p:cNvPr id="14" name="TextBox 13">
            <a:extLst>
              <a:ext uri="{FF2B5EF4-FFF2-40B4-BE49-F238E27FC236}">
                <a16:creationId xmlns:a16="http://schemas.microsoft.com/office/drawing/2014/main" id="{2AE28BF8-7B85-0535-4036-53290775F4E0}"/>
              </a:ext>
            </a:extLst>
          </p:cNvPr>
          <p:cNvSpPr txBox="1"/>
          <p:nvPr/>
        </p:nvSpPr>
        <p:spPr>
          <a:xfrm>
            <a:off x="210062" y="5372735"/>
            <a:ext cx="6099242" cy="923330"/>
          </a:xfrm>
          <a:prstGeom prst="rect">
            <a:avLst/>
          </a:prstGeom>
          <a:noFill/>
        </p:spPr>
        <p:txBody>
          <a:bodyPr wrap="square">
            <a:spAutoFit/>
          </a:bodyPr>
          <a:lstStyle/>
          <a:p>
            <a:pPr marL="342900" lvl="0" indent="-342900">
              <a:buFont typeface="Arial" panose="020B0604020202020204" pitchFamily="34" charset="0"/>
              <a:buChar char="•"/>
            </a:pPr>
            <a:r>
              <a:rPr lang="en-IN" dirty="0">
                <a:effectLst/>
                <a:latin typeface="Times New Roman" panose="02020603050405020304" pitchFamily="18" charset="0"/>
                <a:cs typeface="Times New Roman" panose="02020603050405020304" pitchFamily="18" charset="0"/>
              </a:rPr>
              <a:t>A summary table of average values per season.</a:t>
            </a:r>
            <a:endParaRPr lang="en-IN"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dirty="0">
                <a:effectLst/>
                <a:latin typeface="Times New Roman" panose="02020603050405020304" pitchFamily="18" charset="0"/>
                <a:cs typeface="Times New Roman" panose="02020603050405020304" pitchFamily="18" charset="0"/>
              </a:rPr>
              <a:t>A heatmap showing which factors rise or fall across Kharif, Rabi, and Zaid.</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2211E33F-004D-1B25-60FC-DDD63FF2D1E1}"/>
              </a:ext>
            </a:extLst>
          </p:cNvPr>
          <p:cNvPicPr>
            <a:picLocks noChangeAspect="1"/>
          </p:cNvPicPr>
          <p:nvPr/>
        </p:nvPicPr>
        <p:blipFill>
          <a:blip r:embed="rId3"/>
          <a:stretch>
            <a:fillRect/>
          </a:stretch>
        </p:blipFill>
        <p:spPr>
          <a:xfrm>
            <a:off x="189429" y="1129456"/>
            <a:ext cx="4516204" cy="4017523"/>
          </a:xfrm>
          <a:prstGeom prst="rect">
            <a:avLst/>
          </a:prstGeom>
        </p:spPr>
      </p:pic>
      <p:pic>
        <p:nvPicPr>
          <p:cNvPr id="12" name="Picture 11">
            <a:extLst>
              <a:ext uri="{FF2B5EF4-FFF2-40B4-BE49-F238E27FC236}">
                <a16:creationId xmlns:a16="http://schemas.microsoft.com/office/drawing/2014/main" id="{BD13CB78-10C1-4308-B19C-EFEE5511EAA3}"/>
              </a:ext>
            </a:extLst>
          </p:cNvPr>
          <p:cNvPicPr>
            <a:picLocks noChangeAspect="1"/>
          </p:cNvPicPr>
          <p:nvPr/>
        </p:nvPicPr>
        <p:blipFill>
          <a:blip r:embed="rId4"/>
          <a:stretch>
            <a:fillRect/>
          </a:stretch>
        </p:blipFill>
        <p:spPr>
          <a:xfrm>
            <a:off x="4837186" y="678551"/>
            <a:ext cx="6598627" cy="2525796"/>
          </a:xfrm>
          <a:prstGeom prst="rect">
            <a:avLst/>
          </a:prstGeom>
        </p:spPr>
      </p:pic>
      <p:pic>
        <p:nvPicPr>
          <p:cNvPr id="14" name="Picture 13">
            <a:extLst>
              <a:ext uri="{FF2B5EF4-FFF2-40B4-BE49-F238E27FC236}">
                <a16:creationId xmlns:a16="http://schemas.microsoft.com/office/drawing/2014/main" id="{0E9AFB6F-B7FF-F972-28B0-5CB258110B37}"/>
              </a:ext>
            </a:extLst>
          </p:cNvPr>
          <p:cNvPicPr>
            <a:picLocks noChangeAspect="1"/>
          </p:cNvPicPr>
          <p:nvPr/>
        </p:nvPicPr>
        <p:blipFill>
          <a:blip r:embed="rId5"/>
          <a:stretch>
            <a:fillRect/>
          </a:stretch>
        </p:blipFill>
        <p:spPr>
          <a:xfrm>
            <a:off x="4809146" y="3350262"/>
            <a:ext cx="7069676" cy="2476846"/>
          </a:xfrm>
          <a:prstGeom prst="rect">
            <a:avLst/>
          </a:prstGeom>
        </p:spPr>
      </p:pic>
      <p:sp>
        <p:nvSpPr>
          <p:cNvPr id="15" name="TextBox 14">
            <a:extLst>
              <a:ext uri="{FF2B5EF4-FFF2-40B4-BE49-F238E27FC236}">
                <a16:creationId xmlns:a16="http://schemas.microsoft.com/office/drawing/2014/main" id="{4DEFE5AD-0A08-31C5-556D-12723A9E5FFB}"/>
              </a:ext>
            </a:extLst>
          </p:cNvPr>
          <p:cNvSpPr txBox="1"/>
          <p:nvPr/>
        </p:nvSpPr>
        <p:spPr>
          <a:xfrm>
            <a:off x="515566" y="5765524"/>
            <a:ext cx="9420208" cy="923330"/>
          </a:xfrm>
          <a:prstGeom prst="rect">
            <a:avLst/>
          </a:prstGeom>
          <a:noFill/>
        </p:spPr>
        <p:txBody>
          <a:bodyPr wrap="none" rtlCol="0">
            <a:spAutoFit/>
          </a:bodyPr>
          <a:lstStyle/>
          <a:p>
            <a:pPr lvl="0"/>
            <a:r>
              <a:rPr lang="en-IN" dirty="0">
                <a:latin typeface="Times New Roman" panose="02020603050405020304" pitchFamily="18" charset="0"/>
                <a:cs typeface="Times New Roman" panose="02020603050405020304" pitchFamily="18" charset="0"/>
              </a:rPr>
              <a:t>A summary table of average values per season.</a:t>
            </a:r>
          </a:p>
          <a:p>
            <a:pPr lvl="0"/>
            <a:r>
              <a:rPr lang="en-IN" dirty="0">
                <a:latin typeface="Times New Roman" panose="02020603050405020304" pitchFamily="18" charset="0"/>
                <a:cs typeface="Times New Roman" panose="02020603050405020304" pitchFamily="18" charset="0"/>
              </a:rPr>
              <a:t>Bar charts showing rainfall, temperature, yield, and profit differences across Kharif, Rabi, and Zaid.</a:t>
            </a:r>
          </a:p>
          <a:p>
            <a:endParaRPr lang="en-IN" dirty="0"/>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2EDCAEAA-F240-1B11-5964-932F6EC08D90}"/>
              </a:ext>
            </a:extLst>
          </p:cNvPr>
          <p:cNvPicPr>
            <a:picLocks noChangeAspect="1"/>
          </p:cNvPicPr>
          <p:nvPr/>
        </p:nvPicPr>
        <p:blipFill>
          <a:blip r:embed="rId3"/>
          <a:stretch>
            <a:fillRect/>
          </a:stretch>
        </p:blipFill>
        <p:spPr>
          <a:xfrm>
            <a:off x="473243" y="1415650"/>
            <a:ext cx="4448953" cy="2815882"/>
          </a:xfrm>
          <a:prstGeom prst="rect">
            <a:avLst/>
          </a:prstGeom>
        </p:spPr>
      </p:pic>
      <p:sp>
        <p:nvSpPr>
          <p:cNvPr id="11" name="TextBox 10">
            <a:extLst>
              <a:ext uri="{FF2B5EF4-FFF2-40B4-BE49-F238E27FC236}">
                <a16:creationId xmlns:a16="http://schemas.microsoft.com/office/drawing/2014/main" id="{6A21C285-2A6F-8F4D-5909-042E8D49B86D}"/>
              </a:ext>
            </a:extLst>
          </p:cNvPr>
          <p:cNvSpPr txBox="1"/>
          <p:nvPr/>
        </p:nvSpPr>
        <p:spPr>
          <a:xfrm>
            <a:off x="564204" y="4751561"/>
            <a:ext cx="3482502" cy="1200329"/>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This will give you a summary table showing how much water is used and how efficient it is in each season.</a:t>
            </a:r>
          </a:p>
        </p:txBody>
      </p:sp>
      <p:pic>
        <p:nvPicPr>
          <p:cNvPr id="13" name="Picture 12">
            <a:extLst>
              <a:ext uri="{FF2B5EF4-FFF2-40B4-BE49-F238E27FC236}">
                <a16:creationId xmlns:a16="http://schemas.microsoft.com/office/drawing/2014/main" id="{4F5D0F70-F257-DC3E-93AE-D68AD122F2D3}"/>
              </a:ext>
            </a:extLst>
          </p:cNvPr>
          <p:cNvPicPr>
            <a:picLocks noChangeAspect="1"/>
          </p:cNvPicPr>
          <p:nvPr/>
        </p:nvPicPr>
        <p:blipFill>
          <a:blip r:embed="rId4"/>
          <a:stretch>
            <a:fillRect/>
          </a:stretch>
        </p:blipFill>
        <p:spPr>
          <a:xfrm>
            <a:off x="5074457" y="193041"/>
            <a:ext cx="6170717" cy="2715530"/>
          </a:xfrm>
          <a:prstGeom prst="rect">
            <a:avLst/>
          </a:prstGeom>
        </p:spPr>
      </p:pic>
      <p:pic>
        <p:nvPicPr>
          <p:cNvPr id="15" name="Picture 14">
            <a:extLst>
              <a:ext uri="{FF2B5EF4-FFF2-40B4-BE49-F238E27FC236}">
                <a16:creationId xmlns:a16="http://schemas.microsoft.com/office/drawing/2014/main" id="{B068AF8A-7F95-CA3D-3FC3-9F0DED41B84C}"/>
              </a:ext>
            </a:extLst>
          </p:cNvPr>
          <p:cNvPicPr>
            <a:picLocks noChangeAspect="1"/>
          </p:cNvPicPr>
          <p:nvPr/>
        </p:nvPicPr>
        <p:blipFill>
          <a:blip r:embed="rId5"/>
          <a:stretch>
            <a:fillRect/>
          </a:stretch>
        </p:blipFill>
        <p:spPr>
          <a:xfrm>
            <a:off x="5059937" y="3043321"/>
            <a:ext cx="6170717" cy="2908569"/>
          </a:xfrm>
          <a:prstGeom prst="rect">
            <a:avLst/>
          </a:prstGeom>
        </p:spPr>
      </p:pic>
      <p:sp>
        <p:nvSpPr>
          <p:cNvPr id="17" name="TextBox 16">
            <a:extLst>
              <a:ext uri="{FF2B5EF4-FFF2-40B4-BE49-F238E27FC236}">
                <a16:creationId xmlns:a16="http://schemas.microsoft.com/office/drawing/2014/main" id="{EA688D55-E328-DF6F-80AE-D6E13B730A46}"/>
              </a:ext>
            </a:extLst>
          </p:cNvPr>
          <p:cNvSpPr txBox="1"/>
          <p:nvPr/>
        </p:nvSpPr>
        <p:spPr>
          <a:xfrm>
            <a:off x="4922196" y="6023732"/>
            <a:ext cx="7052553" cy="923330"/>
          </a:xfrm>
          <a:prstGeom prst="rect">
            <a:avLst/>
          </a:prstGeom>
          <a:noFill/>
        </p:spPr>
        <p:txBody>
          <a:bodyPr wrap="square" rtlCol="0">
            <a:spAutoFit/>
          </a:bodyPr>
          <a:lstStyle/>
          <a:p>
            <a:pPr lvl="0"/>
            <a:r>
              <a:rPr lang="en-IN" dirty="0">
                <a:latin typeface="Times New Roman" panose="02020603050405020304" pitchFamily="18" charset="0"/>
                <a:cs typeface="Times New Roman" panose="02020603050405020304" pitchFamily="18" charset="0"/>
              </a:rPr>
              <a:t>A summary table of average water usage and efficiency per season.</a:t>
            </a:r>
          </a:p>
          <a:p>
            <a:pPr lvl="0"/>
            <a:r>
              <a:rPr lang="en-IN" dirty="0">
                <a:latin typeface="Times New Roman" panose="02020603050405020304" pitchFamily="18" charset="0"/>
                <a:cs typeface="Times New Roman" panose="02020603050405020304" pitchFamily="18" charset="0"/>
              </a:rPr>
              <a:t>Two bar charts side by side: one for water usage, one for efficiency.</a:t>
            </a:r>
          </a:p>
          <a:p>
            <a:endParaRPr lang="en-IN" dirty="0"/>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C0C65DF0-FF8C-2EE7-D718-381D5559A678}"/>
              </a:ext>
            </a:extLst>
          </p:cNvPr>
          <p:cNvPicPr>
            <a:picLocks noChangeAspect="1"/>
          </p:cNvPicPr>
          <p:nvPr/>
        </p:nvPicPr>
        <p:blipFill>
          <a:blip r:embed="rId3"/>
          <a:stretch>
            <a:fillRect/>
          </a:stretch>
        </p:blipFill>
        <p:spPr>
          <a:xfrm>
            <a:off x="320982" y="1065399"/>
            <a:ext cx="4739840" cy="2524107"/>
          </a:xfrm>
          <a:prstGeom prst="rect">
            <a:avLst/>
          </a:prstGeom>
        </p:spPr>
      </p:pic>
      <p:pic>
        <p:nvPicPr>
          <p:cNvPr id="12" name="Picture 11">
            <a:extLst>
              <a:ext uri="{FF2B5EF4-FFF2-40B4-BE49-F238E27FC236}">
                <a16:creationId xmlns:a16="http://schemas.microsoft.com/office/drawing/2014/main" id="{429BE1D6-5A15-7180-1B22-6EAA2B202792}"/>
              </a:ext>
            </a:extLst>
          </p:cNvPr>
          <p:cNvPicPr>
            <a:picLocks noChangeAspect="1"/>
          </p:cNvPicPr>
          <p:nvPr/>
        </p:nvPicPr>
        <p:blipFill>
          <a:blip r:embed="rId4"/>
          <a:stretch>
            <a:fillRect/>
          </a:stretch>
        </p:blipFill>
        <p:spPr>
          <a:xfrm>
            <a:off x="320982" y="3663291"/>
            <a:ext cx="4387205" cy="2262164"/>
          </a:xfrm>
          <a:prstGeom prst="rect">
            <a:avLst/>
          </a:prstGeom>
        </p:spPr>
      </p:pic>
      <p:sp>
        <p:nvSpPr>
          <p:cNvPr id="13" name="TextBox 12">
            <a:extLst>
              <a:ext uri="{FF2B5EF4-FFF2-40B4-BE49-F238E27FC236}">
                <a16:creationId xmlns:a16="http://schemas.microsoft.com/office/drawing/2014/main" id="{0FDFB1F9-64D7-2E0C-9D45-61E31244419D}"/>
              </a:ext>
            </a:extLst>
          </p:cNvPr>
          <p:cNvSpPr txBox="1"/>
          <p:nvPr/>
        </p:nvSpPr>
        <p:spPr>
          <a:xfrm>
            <a:off x="-75390" y="5867644"/>
            <a:ext cx="6092864" cy="923330"/>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This will print a correlation table showing how environmental factors (rainfall, temperature, humidity, sunlight) relate to performance metrics (yield, production, profit).</a:t>
            </a:r>
          </a:p>
        </p:txBody>
      </p:sp>
      <p:pic>
        <p:nvPicPr>
          <p:cNvPr id="15" name="Picture 14">
            <a:extLst>
              <a:ext uri="{FF2B5EF4-FFF2-40B4-BE49-F238E27FC236}">
                <a16:creationId xmlns:a16="http://schemas.microsoft.com/office/drawing/2014/main" id="{BAD46650-332B-972E-212B-78F1EFAF61EA}"/>
              </a:ext>
            </a:extLst>
          </p:cNvPr>
          <p:cNvPicPr>
            <a:picLocks noChangeAspect="1"/>
          </p:cNvPicPr>
          <p:nvPr/>
        </p:nvPicPr>
        <p:blipFill>
          <a:blip r:embed="rId5"/>
          <a:stretch>
            <a:fillRect/>
          </a:stretch>
        </p:blipFill>
        <p:spPr>
          <a:xfrm>
            <a:off x="5457194" y="975481"/>
            <a:ext cx="5988289" cy="2159437"/>
          </a:xfrm>
          <a:prstGeom prst="rect">
            <a:avLst/>
          </a:prstGeom>
        </p:spPr>
      </p:pic>
      <p:pic>
        <p:nvPicPr>
          <p:cNvPr id="17" name="Picture 16">
            <a:extLst>
              <a:ext uri="{FF2B5EF4-FFF2-40B4-BE49-F238E27FC236}">
                <a16:creationId xmlns:a16="http://schemas.microsoft.com/office/drawing/2014/main" id="{71A88C07-5880-D984-CBC0-AE4B959283FB}"/>
              </a:ext>
            </a:extLst>
          </p:cNvPr>
          <p:cNvPicPr>
            <a:picLocks noChangeAspect="1"/>
          </p:cNvPicPr>
          <p:nvPr/>
        </p:nvPicPr>
        <p:blipFill>
          <a:blip r:embed="rId6"/>
          <a:stretch>
            <a:fillRect/>
          </a:stretch>
        </p:blipFill>
        <p:spPr>
          <a:xfrm>
            <a:off x="5457194" y="3222647"/>
            <a:ext cx="6260639" cy="2524108"/>
          </a:xfrm>
          <a:prstGeom prst="rect">
            <a:avLst/>
          </a:prstGeom>
        </p:spPr>
      </p:pic>
      <p:sp>
        <p:nvSpPr>
          <p:cNvPr id="18" name="TextBox 17">
            <a:extLst>
              <a:ext uri="{FF2B5EF4-FFF2-40B4-BE49-F238E27FC236}">
                <a16:creationId xmlns:a16="http://schemas.microsoft.com/office/drawing/2014/main" id="{921B726D-1006-AFB2-6A10-9AC7ECB60E02}"/>
              </a:ext>
            </a:extLst>
          </p:cNvPr>
          <p:cNvSpPr txBox="1"/>
          <p:nvPr/>
        </p:nvSpPr>
        <p:spPr>
          <a:xfrm>
            <a:off x="6017474" y="5834484"/>
            <a:ext cx="5291845" cy="923330"/>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This code aggregates your agricultural data to analyze performance metrics across different farming seasons, states, and crop type</a:t>
            </a:r>
            <a:r>
              <a:rPr lang="en-US" dirty="0"/>
              <a:t>s.</a:t>
            </a:r>
            <a:endParaRPr lang="en-IN" dirty="0"/>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47A26A6B-E0FB-F976-6FAC-1634F8C391E7}"/>
              </a:ext>
            </a:extLst>
          </p:cNvPr>
          <p:cNvSpPr txBox="1"/>
          <p:nvPr/>
        </p:nvSpPr>
        <p:spPr>
          <a:xfrm>
            <a:off x="320982" y="1612311"/>
            <a:ext cx="10398898" cy="3970318"/>
          </a:xfrm>
          <a:prstGeom prst="rect">
            <a:avLst/>
          </a:prstGeom>
          <a:noFill/>
        </p:spPr>
        <p:txBody>
          <a:bodyPr wrap="square" rtlCol="0">
            <a:spAutoFit/>
          </a:bodyPr>
          <a:lstStyle/>
          <a:p>
            <a:r>
              <a:rPr lang="en-US" b="1" dirty="0"/>
              <a:t>1</a:t>
            </a:r>
            <a:r>
              <a:rPr lang="en-US" b="1" dirty="0">
                <a:latin typeface="Times New Roman" panose="02020603050405020304" pitchFamily="18" charset="0"/>
                <a:cs typeface="Times New Roman" panose="02020603050405020304" pitchFamily="18" charset="0"/>
              </a:rPr>
              <a:t>. Predicting Future Yields: </a:t>
            </a:r>
            <a:r>
              <a:rPr lang="en-US" dirty="0">
                <a:latin typeface="Times New Roman" panose="02020603050405020304" pitchFamily="18" charset="0"/>
                <a:cs typeface="Times New Roman" panose="02020603050405020304" pitchFamily="18" charset="0"/>
              </a:rPr>
              <a:t>Machine learning tools can be added to predict next season's crop harvest and market prices before they happen.</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2. Live Interactive Dashboards:</a:t>
            </a:r>
            <a:r>
              <a:rPr lang="en-US" dirty="0">
                <a:latin typeface="Times New Roman" panose="02020603050405020304" pitchFamily="18" charset="0"/>
                <a:cs typeface="Times New Roman" panose="02020603050405020304" pitchFamily="18" charset="0"/>
              </a:rPr>
              <a:t> Static charts can be turned into simple interactive dashboards (using tools like Power BI or </a:t>
            </a:r>
            <a:r>
              <a:rPr lang="en-US" dirty="0" err="1">
                <a:latin typeface="Times New Roman" panose="02020603050405020304" pitchFamily="18" charset="0"/>
                <a:cs typeface="Times New Roman" panose="02020603050405020304" pitchFamily="18" charset="0"/>
              </a:rPr>
              <a:t>Streamlit</a:t>
            </a:r>
            <a:r>
              <a:rPr lang="en-US" dirty="0">
                <a:latin typeface="Times New Roman" panose="02020603050405020304" pitchFamily="18" charset="0"/>
                <a:cs typeface="Times New Roman" panose="02020603050405020304" pitchFamily="18" charset="0"/>
              </a:rPr>
              <a:t>) so non-technical users can click and view seasonal trends easily.</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3. Real-Time Weather Integration: </a:t>
            </a:r>
            <a:r>
              <a:rPr lang="en-US" dirty="0">
                <a:latin typeface="Times New Roman" panose="02020603050405020304" pitchFamily="18" charset="0"/>
                <a:cs typeface="Times New Roman" panose="02020603050405020304" pitchFamily="18" charset="0"/>
              </a:rPr>
              <a:t>The project can connect with live weather apps and soil sensors to give farmers instant updates instead of looking only at past data.  </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4. Smart Farming Recommendations:</a:t>
            </a:r>
            <a:r>
              <a:rPr lang="en-US" dirty="0">
                <a:latin typeface="Times New Roman" panose="02020603050405020304" pitchFamily="18" charset="0"/>
                <a:cs typeface="Times New Roman" panose="02020603050405020304" pitchFamily="18" charset="0"/>
              </a:rPr>
              <a:t> An automated advice system can be built to directly send simple alerts to farmers about the best time to plant, water, or harvest based on seasonal patterns. </a:t>
            </a:r>
          </a:p>
          <a:p>
            <a:r>
              <a:rPr lang="en-US" dirty="0">
                <a:latin typeface="Times New Roman" panose="02020603050405020304" pitchFamily="18" charset="0"/>
                <a:cs typeface="Times New Roman" panose="02020603050405020304" pitchFamily="18" charset="0"/>
              </a:rPr>
              <a:t> </a:t>
            </a:r>
          </a:p>
          <a:p>
            <a:r>
              <a:rPr lang="en-US" b="1" dirty="0">
                <a:latin typeface="Times New Roman" panose="02020603050405020304" pitchFamily="18" charset="0"/>
                <a:cs typeface="Times New Roman" panose="02020603050405020304" pitchFamily="18" charset="0"/>
              </a:rPr>
              <a:t>5. Long-Term Climate Studies: </a:t>
            </a:r>
            <a:r>
              <a:rPr lang="en-US" dirty="0">
                <a:latin typeface="Times New Roman" panose="02020603050405020304" pitchFamily="18" charset="0"/>
                <a:cs typeface="Times New Roman" panose="02020603050405020304" pitchFamily="18" charset="0"/>
              </a:rPr>
              <a:t>The analysis can be expanded across multiple years to see how global warming and changing weather patterns affect farming over time.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6095A838-3756-5893-E2B5-2A8BF37122A1}"/>
              </a:ext>
            </a:extLst>
          </p:cNvPr>
          <p:cNvSpPr txBox="1"/>
          <p:nvPr/>
        </p:nvSpPr>
        <p:spPr>
          <a:xfrm>
            <a:off x="184796" y="1275371"/>
            <a:ext cx="10282166"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https://github.com/Bhagyashri-Thakare/Seasonal-Agriculture-Performance-Analysis/upload/main</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58E3ED1D-8CDC-B5BC-E84F-537967AB1AC2}"/>
              </a:ext>
            </a:extLst>
          </p:cNvPr>
          <p:cNvPicPr>
            <a:picLocks noChangeAspect="1"/>
          </p:cNvPicPr>
          <p:nvPr/>
        </p:nvPicPr>
        <p:blipFill>
          <a:blip r:embed="rId3"/>
          <a:stretch>
            <a:fillRect/>
          </a:stretch>
        </p:blipFill>
        <p:spPr>
          <a:xfrm>
            <a:off x="797591" y="1532942"/>
            <a:ext cx="8108120" cy="5132018"/>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707</TotalTime>
  <Words>974</Words>
  <Application>Microsoft Office PowerPoint</Application>
  <PresentationFormat>Widescreen</PresentationFormat>
  <Paragraphs>66</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Times New Roman</vt:lpstr>
      <vt:lpstr>Trebuchet MS</vt:lpstr>
      <vt:lpstr>Wingdings</vt:lpstr>
      <vt:lpstr>Wingdings 3</vt:lpstr>
      <vt:lpstr>Facet</vt:lpstr>
      <vt:lpstr>Project Title -</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dellpcbs026@gmail.com</cp:lastModifiedBy>
  <cp:revision>100</cp:revision>
  <dcterms:created xsi:type="dcterms:W3CDTF">2021-07-11T13:13:15Z</dcterms:created>
  <dcterms:modified xsi:type="dcterms:W3CDTF">2026-09-07T14:16:06Z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